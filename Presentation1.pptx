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7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6"/>
        <p:guide pos="3803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04" name="Group 103"/>
          <p:cNvGrpSpPr/>
          <p:nvPr/>
        </p:nvGrpSpPr>
        <p:grpSpPr>
          <a:xfrm>
            <a:off x="201295" y="120650"/>
            <a:ext cx="11990705" cy="6638290"/>
            <a:chOff x="317" y="190"/>
            <a:chExt cx="18883" cy="10454"/>
          </a:xfrm>
        </p:grpSpPr>
        <p:sp>
          <p:nvSpPr>
            <p:cNvPr id="4" name="Rectangles 2"/>
            <p:cNvSpPr/>
            <p:nvPr/>
          </p:nvSpPr>
          <p:spPr>
            <a:xfrm>
              <a:off x="347" y="1424"/>
              <a:ext cx="7542" cy="692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indent="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1</a:t>
              </a:r>
              <a:r>
                <a:rPr lang="en-US" altLang="zh-CN" sz="800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. Upload New Firmware → Amazon S3 (HTTPS/TLS 1.2)   </a:t>
              </a:r>
              <a:endParaRPr lang="en-US" altLang="zh-CN" sz="800" kern="0" spc="0">
                <a:solidFill>
                  <a:srgbClr val="000000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0" marR="0" indent="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2. Create IoT Job via AWS IoT Jobs API (HTTPS/REST)   </a:t>
              </a:r>
              <a:endParaRPr lang="en-US" altLang="zh-CN" sz="800" kern="0" spc="0">
                <a:solidFill>
                  <a:srgbClr val="000000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0" marR="0" indent="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Job Document includes:</a:t>
              </a:r>
              <a:endParaRPr lang="en-US" altLang="zh-CN" sz="800" kern="0" spc="0">
                <a:solidFill>
                  <a:srgbClr val="000000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342900" lvl="0" indent="-34290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Font typeface="Arial" panose="02080604020202020204" pitchFamily="34" charset="0"/>
                <a:buChar char="•"/>
                <a:tabLst>
                  <a:tab pos="266700" algn="l"/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S3 Presigned URL (HTTPS)</a:t>
              </a:r>
              <a:endParaRPr lang="en-US" altLang="zh-CN" sz="800" kern="0" spc="0">
                <a:solidFill>
                  <a:srgbClr val="FFFFFF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342900" lvl="0" indent="-34290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Font typeface="Arial" panose="02080604020202020204" pitchFamily="34" charset="0"/>
                <a:buChar char="•"/>
                <a:tabLst>
                  <a:tab pos="266700" algn="l"/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Firmware Version (e.g., v5.0)</a:t>
              </a:r>
              <a:endParaRPr lang="en-US" altLang="zh-CN" sz="800" kern="0" spc="0">
                <a:solidFill>
                  <a:srgbClr val="FFFFFF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342900" lvl="0" indent="-34290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Font typeface="Arial" panose="02080604020202020204" pitchFamily="34" charset="0"/>
                <a:buChar char="•"/>
                <a:tabLst>
                  <a:tab pos="266700" algn="l"/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Checksum (SHA-256)</a:t>
              </a:r>
              <a:endParaRPr lang="en-US" altLang="zh-CN" sz="800" kern="0" spc="0">
                <a:solidFill>
                  <a:srgbClr val="FFFFFF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342900" lvl="0" indent="-34290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Font typeface="Arial" panose="02080604020202020204" pitchFamily="34" charset="0"/>
                <a:buChar char="•"/>
                <a:tabLst>
                  <a:tab pos="266700" algn="l"/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File size</a:t>
              </a:r>
              <a:endParaRPr lang="en-US" altLang="zh-CN" sz="800" kern="0" spc="0">
                <a:solidFill>
                  <a:srgbClr val="FFFFFF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0" marR="0" indent="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Monitors:</a:t>
              </a:r>
              <a:endParaRPr lang="en-US" altLang="zh-CN" sz="800" kern="0" spc="0">
                <a:solidFill>
                  <a:srgbClr val="000000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342900" lvl="0" indent="-34290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Font typeface="Arial" panose="02080604020202020204" pitchFamily="34" charset="0"/>
                <a:buChar char="•"/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Job Status: </a:t>
              </a:r>
              <a:r>
                <a:rPr lang="en-US" altLang="zh-CN" sz="800" b="1" kern="0">
                  <a:solidFill>
                    <a:srgbClr val="00B0F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QUEUED</a:t>
              </a:r>
              <a:r>
                <a:rPr lang="en-US" altLang="zh-CN" sz="800" b="1" kern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, </a:t>
              </a:r>
              <a:r>
                <a:rPr lang="en-US" altLang="zh-CN" sz="800" b="1" kern="0">
                  <a:gradFill>
                    <a:gsLst>
                      <a:gs pos="0">
                        <a:srgbClr val="FBFB11"/>
                      </a:gs>
                      <a:gs pos="100000">
                        <a:srgbClr val="838309"/>
                      </a:gs>
                    </a:gsLst>
                    <a:lin ang="0" scaled="0"/>
                  </a:gra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IN_PROGRESS</a:t>
              </a:r>
              <a:r>
                <a:rPr lang="en-US" altLang="zh-CN" sz="800" b="1" kern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, </a:t>
              </a:r>
              <a:r>
                <a:rPr lang="en-US" altLang="zh-CN" sz="800" b="1" kern="0">
                  <a:gradFill>
                    <a:gsLst>
                      <a:gs pos="0">
                        <a:srgbClr val="14CD68"/>
                      </a:gs>
                      <a:gs pos="100000">
                        <a:srgbClr val="0B6E38"/>
                      </a:gs>
                    </a:gsLst>
                    <a:lin ang="0" scaled="0"/>
                  </a:gra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SUCCEEDED</a:t>
              </a:r>
              <a:r>
                <a:rPr lang="en-US" altLang="zh-CN" sz="800" b="1" kern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,</a:t>
              </a:r>
              <a:r>
                <a:rPr lang="en-US" altLang="zh-CN" sz="800" b="1" kern="0">
                  <a:solidFill>
                    <a:srgbClr val="FF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 FAILED</a:t>
              </a:r>
              <a:endParaRPr lang="en-US" altLang="zh-CN" sz="800" b="1" kern="0" spc="0">
                <a:solidFill>
                  <a:srgbClr val="FFFFFF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342900" lvl="0" indent="-34290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Font typeface="Arial" panose="02080604020202020204" pitchFamily="34" charset="0"/>
                <a:buChar char="•"/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Device Connectivity</a:t>
              </a:r>
              <a:endParaRPr lang="en-US" altLang="zh-CN" sz="800" kern="0" spc="0">
                <a:solidFill>
                  <a:srgbClr val="FFFFFF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342900" lvl="0" indent="-34290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Font typeface="Arial" panose="02080604020202020204" pitchFamily="34" charset="0"/>
                <a:buChar char="•"/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Firmware Update Progress</a:t>
              </a:r>
              <a:endParaRPr lang="en-US" altLang="zh-CN" sz="800" kern="0" spc="0">
                <a:solidFill>
                  <a:srgbClr val="FFFFFF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342900" lvl="0" indent="-34290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Font typeface="Arial" panose="02080604020202020204" pitchFamily="34" charset="0"/>
                <a:buChar char="•"/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Error Rates &amp; Retries</a:t>
              </a:r>
              <a:endParaRPr lang="en-US" altLang="zh-CN" sz="800" kern="0" spc="0">
                <a:solidFill>
                  <a:srgbClr val="FFFFFF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  <a:p>
              <a:pPr marL="342900" lvl="0" indent="-342900" algn="l" latinLnBrk="0">
                <a:lnSpc>
                  <a:spcPts val="1650"/>
                </a:lnSpc>
                <a:spcBef>
                  <a:spcPts val="0"/>
                </a:spcBef>
                <a:spcAft>
                  <a:spcPts val="0"/>
                </a:spcAft>
                <a:buFont typeface="Arial" panose="02080604020202020204" pitchFamily="34" charset="0"/>
                <a:buChar char="•"/>
                <a:tabLst>
                  <a:tab pos="581660" algn="l"/>
                  <a:tab pos="1163320" algn="l"/>
                  <a:tab pos="1744980" algn="l"/>
                  <a:tab pos="2326640" algn="l"/>
                  <a:tab pos="2908300" algn="l"/>
                  <a:tab pos="3489960" algn="l"/>
                  <a:tab pos="4071620" algn="l"/>
                  <a:tab pos="4653280" algn="l"/>
                  <a:tab pos="5234940" algn="l"/>
                  <a:tab pos="5816600" algn="l"/>
                  <a:tab pos="6398260" algn="l"/>
                  <a:tab pos="6979920" algn="l"/>
                  <a:tab pos="7561580" algn="l"/>
                  <a:tab pos="8143240" algn="l"/>
                  <a:tab pos="8724900" algn="l"/>
                  <a:tab pos="9306560" algn="l"/>
                </a:tabLst>
              </a:pPr>
              <a:r>
                <a:rPr lang="en-US" altLang="zh-CN" sz="800" kern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rPr>
                <a:t>ota/status Topics</a:t>
              </a:r>
              <a:endParaRPr lang="en-US" altLang="zh-CN" sz="800" b="1" kern="0" spc="0">
                <a:solidFill>
                  <a:srgbClr val="000000"/>
                </a:solidFill>
                <a:latin typeface="Tibetan Machine Uni" panose="01000503020000020002"/>
                <a:ea typeface="ubuntu mono" panose="020B0509030602030204"/>
                <a:cs typeface="Tibetan Machine Uni" panose="01000503020000020002"/>
                <a:sym typeface="Times New Roman"/>
              </a:endParaRPr>
            </a:p>
          </p:txBody>
        </p:sp>
        <p:grpSp>
          <p:nvGrpSpPr>
            <p:cNvPr id="72" name="Group 71"/>
            <p:cNvGrpSpPr/>
            <p:nvPr/>
          </p:nvGrpSpPr>
          <p:grpSpPr>
            <a:xfrm rot="0">
              <a:off x="347" y="190"/>
              <a:ext cx="18853" cy="10454"/>
              <a:chOff x="347" y="190"/>
              <a:chExt cx="18853" cy="10454"/>
            </a:xfrm>
          </p:grpSpPr>
          <p:sp>
            <p:nvSpPr>
              <p:cNvPr id="3" name="Rectangles 1"/>
              <p:cNvSpPr/>
              <p:nvPr/>
            </p:nvSpPr>
            <p:spPr>
              <a:xfrm>
                <a:off x="347" y="934"/>
                <a:ext cx="7542" cy="495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User GUI App 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6" name="Rectangles 5"/>
              <p:cNvSpPr/>
              <p:nvPr/>
            </p:nvSpPr>
            <p:spPr>
              <a:xfrm>
                <a:off x="9500" y="767"/>
                <a:ext cx="9043" cy="382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sz="750" kern="100">
                    <a:latin typeface="Tibetan Machine Uni" panose="01000503020000020002"/>
                    <a:ea typeface="SimSun"/>
                    <a:cs typeface="Tibetan Machine Uni" panose="01000503020000020002"/>
                    <a:sym typeface="Times New Roman"/>
                  </a:rPr>
                  <a:t> </a:t>
                </a:r>
                <a:endParaRPr lang="en-US" altLang="zh-CN" sz="750" kern="100">
                  <a:latin typeface="Tibetan Machine Uni" panose="01000503020000020002"/>
                  <a:ea typeface="SimSun"/>
                  <a:cs typeface="Tibetan Machine Uni" panose="01000503020000020002"/>
                  <a:sym typeface="Times New Roman"/>
                </a:endParaRPr>
              </a:p>
            </p:txBody>
          </p:sp>
          <p:sp>
            <p:nvSpPr>
              <p:cNvPr id="8" name="Rectangles 8"/>
              <p:cNvSpPr/>
              <p:nvPr/>
            </p:nvSpPr>
            <p:spPr>
              <a:xfrm>
                <a:off x="9719" y="881"/>
                <a:ext cx="2909" cy="41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Amazon S3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9" name="Rectangles 3"/>
              <p:cNvSpPr/>
              <p:nvPr/>
            </p:nvSpPr>
            <p:spPr>
              <a:xfrm>
                <a:off x="9500" y="190"/>
                <a:ext cx="9050" cy="540"/>
              </a:xfrm>
              <a:prstGeom prst="rect">
                <a:avLst/>
              </a:prstGeom>
            </p:spPr>
            <p:style>
              <a:lnRef idx="0">
                <a:schemeClr val="dk1"/>
              </a:lnRef>
              <a:fillRef idx="3">
                <a:schemeClr val="dk1"/>
              </a:fillRef>
              <a:effectRef idx="3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indent="0" algn="ctr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975" kern="0" spc="0">
                    <a:solidFill>
                      <a:srgbClr val="F9FAFB"/>
                    </a:solidFill>
                    <a:latin typeface="ubuntu mono" panose="020B0509030602030204"/>
                    <a:ea typeface="ubuntu mono" panose="020B0509030602030204"/>
                    <a:cs typeface="ubuntu mono" panose="020B0509030602030204"/>
                    <a:sym typeface="Times New Roman"/>
                  </a:rPr>
                  <a:t>AWS Cloud Services</a:t>
                </a:r>
                <a:endParaRPr lang="en-US" altLang="zh-CN" sz="975" kern="0" spc="0">
                  <a:solidFill>
                    <a:srgbClr val="F9FAFB"/>
                  </a:solidFill>
                  <a:latin typeface="ubuntu mono" panose="020B0509030602030204"/>
                  <a:ea typeface="ubuntu mono" panose="020B0509030602030204"/>
                  <a:cs typeface="ubuntu mono" panose="020B0509030602030204"/>
                  <a:sym typeface="Times New Roman"/>
                </a:endParaRPr>
              </a:p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 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10" name="Rectangles 10"/>
              <p:cNvSpPr/>
              <p:nvPr/>
            </p:nvSpPr>
            <p:spPr>
              <a:xfrm>
                <a:off x="14450" y="858"/>
                <a:ext cx="3804" cy="461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AWS IoT Jobs Service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12" name="Rectangles 9"/>
              <p:cNvSpPr/>
              <p:nvPr/>
            </p:nvSpPr>
            <p:spPr>
              <a:xfrm>
                <a:off x="9719" y="1318"/>
                <a:ext cx="2909" cy="1232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342900" lvl="0" indent="-342900" algn="l">
                  <a:buChar char=""/>
                </a:pP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Firmware Bin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  <a:p>
                <a:pPr marL="342900" lvl="0" indent="-342900" algn="l">
                  <a:buChar char=""/>
                </a:pP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Presigned URLs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  <a:p>
                <a:pPr marL="342900" lvl="0" indent="-342900" algn="l">
                  <a:buChar char=""/>
                </a:pP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Versioning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13" name="Rectangles 11"/>
              <p:cNvSpPr/>
              <p:nvPr/>
            </p:nvSpPr>
            <p:spPr>
              <a:xfrm>
                <a:off x="14461" y="1308"/>
                <a:ext cx="3793" cy="1253"/>
              </a:xfrm>
              <a:prstGeom prst="rect">
                <a:avLst/>
              </a:prstGeom>
              <a:gradFill>
                <a:gsLst>
                  <a:gs pos="0">
                    <a:schemeClr val="accent6">
                      <a:lumMod val="110000"/>
                      <a:satMod val="105000"/>
                      <a:tint val="67000"/>
                      <a:alpha val="82000"/>
                    </a:schemeClr>
                  </a:gs>
                  <a:gs pos="50000">
                    <a:schemeClr val="accent6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6">
                      <a:lumMod val="105000"/>
                      <a:satMod val="109000"/>
                      <a:tint val="81000"/>
                    </a:schemeClr>
                  </a:gs>
                </a:gsLst>
              </a:gradFill>
              <a:ln w="28575" cmpd="sng">
                <a:solidFill>
                  <a:schemeClr val="accent6">
                    <a:lumMod val="60000"/>
                    <a:lumOff val="40000"/>
                  </a:schemeClr>
                </a:solidFill>
                <a:prstDash val="solid"/>
              </a:ln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342900" lvl="0" indent="-342900" algn="l">
                  <a:buChar char=""/>
                </a:pP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Holds Job Document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  <a:p>
                <a:pPr marL="342900" lvl="0" indent="-342900" algn="l">
                  <a:buChar char=""/>
                </a:pP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Manages Job Queue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  <a:p>
                <a:pPr marL="342900" lvl="0" indent="-342900" algn="l">
                  <a:buChar char=""/>
                </a:pP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Job Status Tracking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14" name="Rectangles 7"/>
              <p:cNvSpPr/>
              <p:nvPr/>
            </p:nvSpPr>
            <p:spPr>
              <a:xfrm>
                <a:off x="10333" y="3034"/>
                <a:ext cx="3771" cy="41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AWS IoT Core (MQTT Broker) 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15" name="Rectangles 12"/>
              <p:cNvSpPr/>
              <p:nvPr/>
            </p:nvSpPr>
            <p:spPr>
              <a:xfrm>
                <a:off x="10334" y="3403"/>
                <a:ext cx="3782" cy="11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342900" lvl="0" indent="-342900" algn="l">
                  <a:buChar char=""/>
                </a:pP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TLS 1.2 Mutual Authentication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  <a:p>
                <a:pPr marL="342900" lvl="0" indent="-342900" algn="l">
                  <a:buChar char=""/>
                </a:pP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X.509 Certificate Validation 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  <a:p>
                <a:pPr marL="342900" lvl="0" indent="-342900" algn="l">
                  <a:buChar char=""/>
                </a:pP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Policy Enforcement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16" name="Rectangles 13"/>
              <p:cNvSpPr/>
              <p:nvPr/>
            </p:nvSpPr>
            <p:spPr>
              <a:xfrm>
                <a:off x="9594" y="4794"/>
                <a:ext cx="8957" cy="502"/>
              </a:xfrm>
              <a:prstGeom prst="rect">
                <a:avLst/>
              </a:prstGeom>
            </p:spPr>
            <p:style>
              <a:lnRef idx="1">
                <a:schemeClr val="dk1"/>
              </a:lnRef>
              <a:fillRef idx="3">
                <a:schemeClr val="dk1"/>
              </a:fillRef>
              <a:effectRef idx="2">
                <a:schemeClr val="dk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Embedded Device 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17" name="Rectangles 14"/>
              <p:cNvSpPr/>
              <p:nvPr/>
            </p:nvSpPr>
            <p:spPr>
              <a:xfrm>
                <a:off x="9590" y="5312"/>
                <a:ext cx="8953" cy="5333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b="1" kern="0" spc="0">
                    <a:solidFill>
                      <a:schemeClr val="tx1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Components: </a:t>
                </a:r>
                <a:endParaRPr lang="en-US" altLang="zh-CN" sz="800" b="1" kern="0" spc="0">
                  <a:solidFill>
                    <a:schemeClr val="tx1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b="1" kern="0" spc="0">
                    <a:solidFill>
                      <a:srgbClr val="00000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Firmware Update Sequence: </a:t>
                </a:r>
                <a:endParaRPr lang="en-US" altLang="zh-CN" sz="800" b="1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just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Receives MQTT Job Notification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just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Requests Job Details (MQTT)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just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Downloads Firmware via S3 Presigned URL (HTTPS)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just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Validates Checksum (SHA-256)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just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Writes to Flash Memory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Char char="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00000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Reports Progress via IoT Jobs API:</a:t>
                </a:r>
                <a:endParaRPr lang="en-US" altLang="zh-CN" sz="800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b="1" kern="0" spc="0">
                    <a:gradFill>
                      <a:gsLst>
                        <a:gs pos="0">
                          <a:srgbClr val="FBFB11"/>
                        </a:gs>
                        <a:gs pos="100000">
                          <a:srgbClr val="838309"/>
                        </a:gs>
                      </a:gsLst>
                      <a:lin ang="0" scaled="0"/>
                    </a:gra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IN_PROGRESS</a:t>
                </a:r>
                <a:endParaRPr lang="en-US" altLang="zh-CN" sz="800" b="1" kern="0" spc="0">
                  <a:gradFill>
                    <a:gsLst>
                      <a:gs pos="0">
                        <a:srgbClr val="FBFB11"/>
                      </a:gs>
                      <a:gs pos="100000">
                        <a:srgbClr val="838309"/>
                      </a:gs>
                    </a:gsLst>
                    <a:lin ang="0" scaled="0"/>
                  </a:gra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0" scaled="0"/>
                    </a:gra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SUCCEEDED</a:t>
                </a: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/</a:t>
                </a:r>
                <a:r>
                  <a:rPr lang="en-US" altLang="zh-CN" sz="800" kern="0" spc="0"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0" scaled="0"/>
                    </a:gra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FAILED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Publishes MQTT Status: ota/status = </a:t>
                </a:r>
                <a:r>
                  <a:rPr lang="en-US" altLang="zh-CN" sz="800" b="1" kern="0" spc="0">
                    <a:solidFill>
                      <a:srgbClr val="00B05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FLASH_SUCCESS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Reboots Device (if successful)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171450" marR="0" indent="-17145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  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</p:txBody>
          </p:sp>
          <p:sp>
            <p:nvSpPr>
              <p:cNvPr id="21" name="Rectangles 19"/>
              <p:cNvSpPr/>
              <p:nvPr/>
            </p:nvSpPr>
            <p:spPr>
              <a:xfrm>
                <a:off x="9971" y="5810"/>
                <a:ext cx="1858" cy="7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watch_ota.sh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(Script)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22" name="Rectangles 18"/>
              <p:cNvSpPr/>
              <p:nvPr/>
            </p:nvSpPr>
            <p:spPr>
              <a:xfrm>
                <a:off x="12584" y="5818"/>
                <a:ext cx="1858" cy="7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Firmware</a:t>
                </a:r>
                <a:b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</a:b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Downloader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23" name="Rectangles 20"/>
              <p:cNvSpPr/>
              <p:nvPr/>
            </p:nvSpPr>
            <p:spPr>
              <a:xfrm>
                <a:off x="15208" y="5811"/>
                <a:ext cx="1858" cy="7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AWS IoT</a:t>
                </a:r>
                <a:b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</a:b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Device SDK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5" name="Elbow Connector 34"/>
              <p:cNvCxnSpPr/>
              <p:nvPr/>
            </p:nvCxnSpPr>
            <p:spPr>
              <a:xfrm rot="10800000">
                <a:off x="7862" y="1796"/>
                <a:ext cx="1630" cy="5"/>
              </a:xfrm>
              <a:prstGeom prst="bentConnector2">
                <a:avLst/>
              </a:prstGeom>
              <a:ln cmpd="sng">
                <a:tailEnd type="stealth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Text Box 35"/>
              <p:cNvSpPr txBox="1"/>
              <p:nvPr/>
            </p:nvSpPr>
            <p:spPr>
              <a:xfrm>
                <a:off x="7779" y="2018"/>
                <a:ext cx="1875" cy="10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p>
                <a:pPr algn="l"/>
                <a:r>
                  <a:rPr lang="en-US" sz="1200"/>
                  <a:t>HTTPS/TLS 1.2</a:t>
                </a:r>
                <a:br>
                  <a:rPr lang="en-US" sz="1200"/>
                </a:br>
                <a:r>
                  <a:rPr lang="en-US" sz="1200"/>
                  <a:t> (S3 PutObject,</a:t>
                </a:r>
                <a:endParaRPr lang="en-US" sz="1200"/>
              </a:p>
              <a:p>
                <a:pPr algn="l"/>
                <a:r>
                  <a:rPr lang="en-US" sz="1200"/>
                  <a:t> IoT Jobs API)</a:t>
                </a:r>
                <a:endParaRPr lang="en-US" sz="1200"/>
              </a:p>
            </p:txBody>
          </p:sp>
          <p:cxnSp>
            <p:nvCxnSpPr>
              <p:cNvPr id="37" name="Elbow Connector 36"/>
              <p:cNvCxnSpPr>
                <a:stCxn id="13" idx="2"/>
                <a:endCxn id="14" idx="0"/>
              </p:cNvCxnSpPr>
              <p:nvPr/>
            </p:nvCxnSpPr>
            <p:spPr>
              <a:xfrm rot="5400000">
                <a:off x="14052" y="728"/>
                <a:ext cx="473" cy="4139"/>
              </a:xfrm>
              <a:prstGeom prst="bentConnector3">
                <a:avLst>
                  <a:gd name="adj1" fmla="val 50106"/>
                </a:avLst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Text Box 37"/>
              <p:cNvSpPr txBox="1"/>
              <p:nvPr/>
            </p:nvSpPr>
            <p:spPr>
              <a:xfrm>
                <a:off x="12693" y="1282"/>
                <a:ext cx="1687" cy="10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sz="900"/>
                  <a:t>MQTT/TLS 1.2</a:t>
                </a:r>
                <a:endParaRPr lang="en-US" sz="900"/>
              </a:p>
              <a:p>
                <a:r>
                  <a:rPr lang="en-US" sz="900"/>
                  <a:t>Topic: $aws/things/THING/jobs/notify-next</a:t>
                </a:r>
                <a:endParaRPr lang="en-US" sz="900"/>
              </a:p>
            </p:txBody>
          </p:sp>
          <p:cxnSp>
            <p:nvCxnSpPr>
              <p:cNvPr id="39" name="Elbow Connector 38"/>
              <p:cNvCxnSpPr/>
              <p:nvPr/>
            </p:nvCxnSpPr>
            <p:spPr>
              <a:xfrm>
                <a:off x="18543" y="2680"/>
                <a:ext cx="5" cy="5299"/>
              </a:xfrm>
              <a:prstGeom prst="bentConnector3">
                <a:avLst>
                  <a:gd name="adj1" fmla="val 7500000"/>
                </a:avLst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 Box 43"/>
              <p:cNvSpPr txBox="1"/>
              <p:nvPr/>
            </p:nvSpPr>
            <p:spPr>
              <a:xfrm>
                <a:off x="18622" y="4794"/>
                <a:ext cx="578" cy="24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wrap="square" rtlCol="0">
                <a:spAutoFit/>
              </a:bodyPr>
              <a:p>
                <a:r>
                  <a:rPr lang="en-US" sz="1200" b="1"/>
                  <a:t>MQTT over TLS 1.2</a:t>
                </a:r>
                <a:endParaRPr lang="en-US" sz="1200" b="1"/>
              </a:p>
            </p:txBody>
          </p:sp>
          <p:sp>
            <p:nvSpPr>
              <p:cNvPr id="53" name="Rectangles 31"/>
              <p:cNvSpPr/>
              <p:nvPr/>
            </p:nvSpPr>
            <p:spPr>
              <a:xfrm>
                <a:off x="5732" y="1619"/>
                <a:ext cx="1858" cy="7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Mobile App</a:t>
                </a:r>
                <a:b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</a:b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Notifications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54" name="Rectangles 30"/>
              <p:cNvSpPr/>
              <p:nvPr/>
            </p:nvSpPr>
            <p:spPr>
              <a:xfrm>
                <a:off x="509" y="1617"/>
                <a:ext cx="1858" cy="7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CloudWatch</a:t>
                </a:r>
                <a:b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</a:b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Logs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sp>
            <p:nvSpPr>
              <p:cNvPr id="55" name="Rectangles 29"/>
              <p:cNvSpPr/>
              <p:nvPr/>
            </p:nvSpPr>
            <p:spPr>
              <a:xfrm>
                <a:off x="3122" y="1625"/>
                <a:ext cx="1858" cy="739"/>
              </a:xfrm>
              <a:prstGeom prst="rect">
                <a:avLst/>
              </a:prstGeom>
            </p:spPr>
            <p:style>
              <a:lnRef idx="0">
                <a:schemeClr val="accent3"/>
              </a:lnRef>
              <a:fillRef idx="3">
                <a:schemeClr val="accent3"/>
              </a:fillRef>
              <a:effectRef idx="3">
                <a:schemeClr val="accent3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algn="ctr"/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GUI App</a:t>
                </a:r>
                <a:b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</a:br>
                <a:r>
                  <a: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rPr>
                  <a:t>Dashboard</a:t>
                </a:r>
                <a:endParaRPr lang="en-US" altLang="zh-CN" sz="1050" kern="100">
                  <a:latin typeface="Calibri"/>
                  <a:ea typeface="SimSu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56" name="Elbow Connector 55"/>
              <p:cNvCxnSpPr/>
              <p:nvPr/>
            </p:nvCxnSpPr>
            <p:spPr>
              <a:xfrm rot="10800000">
                <a:off x="7889" y="3187"/>
                <a:ext cx="1611" cy="1"/>
              </a:xfrm>
              <a:prstGeom prst="bentConnector3">
                <a:avLst>
                  <a:gd name="adj1" fmla="val 49969"/>
                </a:avLst>
              </a:prstGeom>
              <a:ln cmpd="sng">
                <a:headEnd type="stealth" w="lg" len="lg"/>
                <a:tailEnd type="none" w="lg" len="lg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Elbow Connector 58"/>
              <p:cNvCxnSpPr>
                <a:stCxn id="17" idx="1"/>
              </p:cNvCxnSpPr>
              <p:nvPr/>
            </p:nvCxnSpPr>
            <p:spPr>
              <a:xfrm rot="10800000">
                <a:off x="8586" y="3937"/>
                <a:ext cx="1004" cy="4041"/>
              </a:xfrm>
              <a:prstGeom prst="bentConnector2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/>
              <p:cNvCxnSpPr/>
              <p:nvPr/>
            </p:nvCxnSpPr>
            <p:spPr>
              <a:xfrm flipV="1">
                <a:off x="8586" y="3896"/>
                <a:ext cx="921" cy="2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 Box 62"/>
              <p:cNvSpPr txBox="1"/>
              <p:nvPr/>
            </p:nvSpPr>
            <p:spPr>
              <a:xfrm rot="10800000">
                <a:off x="8405" y="4522"/>
                <a:ext cx="578" cy="24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eaVert" wrap="square" rtlCol="0">
                <a:spAutoFit/>
              </a:bodyPr>
              <a:p>
                <a:r>
                  <a:rPr lang="en-US" sz="1200" b="1"/>
                  <a:t>MQTT over TLS 1.2</a:t>
                </a:r>
                <a:endParaRPr lang="en-US" sz="1200" b="1"/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 rot="0">
              <a:off x="317" y="190"/>
              <a:ext cx="18853" cy="8158"/>
              <a:chOff x="317" y="190"/>
              <a:chExt cx="18853" cy="8158"/>
            </a:xfrm>
          </p:grpSpPr>
          <p:sp>
            <p:nvSpPr>
              <p:cNvPr id="73" name="Rectangles 2"/>
              <p:cNvSpPr/>
              <p:nvPr/>
            </p:nvSpPr>
            <p:spPr>
              <a:xfrm>
                <a:off x="317" y="1424"/>
                <a:ext cx="7542" cy="6924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00000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1</a:t>
                </a:r>
                <a:r>
                  <a:rPr lang="en-US" altLang="zh-CN" sz="800" kern="0" spc="0">
                    <a:solidFill>
                      <a:srgbClr val="00000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. Upload New Firmware → Amazon S3 (HTTPS/TLS 1.2)   </a:t>
                </a:r>
                <a:endParaRPr lang="en-US" altLang="zh-CN" sz="800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00000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2. Create IoT Job via AWS IoT Jobs API (HTTPS/REST)   </a:t>
                </a:r>
                <a:endParaRPr lang="en-US" altLang="zh-CN" sz="800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00000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Job Document includes:</a:t>
                </a:r>
                <a:endParaRPr lang="en-US" altLang="zh-CN" sz="800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266700" algn="l"/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S3 Presigned URL (HTTPS)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266700" algn="l"/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Firmware Version (e.g., v5.0)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266700" algn="l"/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Checksum (SHA-256)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266700" algn="l"/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 spc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File size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0" marR="0" indent="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>
                    <a:solidFill>
                      <a:srgbClr val="00000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Monitors:</a:t>
                </a:r>
                <a:endParaRPr lang="en-US" altLang="zh-CN" sz="800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Job Status: </a:t>
                </a:r>
                <a:r>
                  <a:rPr lang="en-US" altLang="zh-CN" sz="800" b="1" kern="0">
                    <a:solidFill>
                      <a:srgbClr val="00B0F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QUEUED</a:t>
                </a:r>
                <a:r>
                  <a:rPr lang="en-US" altLang="zh-CN" sz="800" b="1" kern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, </a:t>
                </a:r>
                <a:r>
                  <a:rPr lang="en-US" altLang="zh-CN" sz="800" b="1" kern="0">
                    <a:gradFill>
                      <a:gsLst>
                        <a:gs pos="0">
                          <a:srgbClr val="FBFB11"/>
                        </a:gs>
                        <a:gs pos="100000">
                          <a:srgbClr val="838309"/>
                        </a:gs>
                      </a:gsLst>
                      <a:lin ang="0" scaled="0"/>
                    </a:gra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IN_PROGRESS</a:t>
                </a:r>
                <a:r>
                  <a:rPr lang="en-US" altLang="zh-CN" sz="800" b="1" kern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, </a:t>
                </a:r>
                <a:r>
                  <a:rPr lang="en-US" altLang="zh-CN" sz="800" b="1" kern="0">
                    <a:gradFill>
                      <a:gsLst>
                        <a:gs pos="0">
                          <a:srgbClr val="14CD68"/>
                        </a:gs>
                        <a:gs pos="100000">
                          <a:srgbClr val="0B6E38"/>
                        </a:gs>
                      </a:gsLst>
                      <a:lin ang="0" scaled="0"/>
                    </a:gra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SUCCEEDED</a:t>
                </a:r>
                <a:r>
                  <a:rPr lang="en-US" altLang="zh-CN" sz="800" b="1" kern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,</a:t>
                </a:r>
                <a:r>
                  <a:rPr lang="en-US" altLang="zh-CN" sz="800" b="1" kern="0">
                    <a:solidFill>
                      <a:srgbClr val="FF0000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 FAILED</a:t>
                </a:r>
                <a:endParaRPr lang="en-US" altLang="zh-CN" sz="800" b="1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Device Connectivity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Firmware Update Progress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Error Rates &amp; Retries</a:t>
                </a:r>
                <a:endParaRPr lang="en-US" altLang="zh-CN" sz="800" kern="0" spc="0">
                  <a:solidFill>
                    <a:srgbClr val="FFFFFF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  <a:p>
                <a:pPr marL="342900" lvl="0" indent="-342900" algn="l" latinLnBrk="0">
                  <a:lnSpc>
                    <a:spcPts val="1650"/>
                  </a:lnSpc>
                  <a:spcBef>
                    <a:spcPts val="0"/>
                  </a:spcBef>
                  <a:spcAft>
                    <a:spcPts val="0"/>
                  </a:spcAft>
                  <a:buFont typeface="Arial" panose="02080604020202020204" pitchFamily="34" charset="0"/>
                  <a:buChar char="•"/>
                  <a:tabLst>
                    <a:tab pos="581660" algn="l"/>
                    <a:tab pos="1163320" algn="l"/>
                    <a:tab pos="1744980" algn="l"/>
                    <a:tab pos="2326640" algn="l"/>
                    <a:tab pos="2908300" algn="l"/>
                    <a:tab pos="3489960" algn="l"/>
                    <a:tab pos="4071620" algn="l"/>
                    <a:tab pos="4653280" algn="l"/>
                    <a:tab pos="5234940" algn="l"/>
                    <a:tab pos="5816600" algn="l"/>
                    <a:tab pos="6398260" algn="l"/>
                    <a:tab pos="6979920" algn="l"/>
                    <a:tab pos="7561580" algn="l"/>
                    <a:tab pos="8143240" algn="l"/>
                    <a:tab pos="8724900" algn="l"/>
                    <a:tab pos="9306560" algn="l"/>
                  </a:tabLst>
                </a:pPr>
                <a:r>
                  <a:rPr lang="en-US" altLang="zh-CN" sz="800" kern="0">
                    <a:solidFill>
                      <a:srgbClr val="FFFFFF"/>
                    </a:solidFill>
                    <a:latin typeface="Tibetan Machine Uni" panose="01000503020000020002"/>
                    <a:ea typeface="ubuntu mono" panose="020B0509030602030204"/>
                    <a:cs typeface="Tibetan Machine Uni" panose="01000503020000020002"/>
                    <a:sym typeface="Times New Roman"/>
                  </a:rPr>
                  <a:t>ota/status Topics</a:t>
                </a:r>
                <a:endParaRPr lang="en-US" altLang="zh-CN" sz="800" b="1" kern="0" spc="0">
                  <a:solidFill>
                    <a:srgbClr val="000000"/>
                  </a:solidFill>
                  <a:latin typeface="Tibetan Machine Uni" panose="01000503020000020002"/>
                  <a:ea typeface="ubuntu mono" panose="020B0509030602030204"/>
                  <a:cs typeface="Tibetan Machine Uni" panose="01000503020000020002"/>
                  <a:sym typeface="Times New Roman"/>
                </a:endParaRPr>
              </a:p>
            </p:txBody>
          </p:sp>
          <p:grpSp>
            <p:nvGrpSpPr>
              <p:cNvPr id="74" name="Group 73"/>
              <p:cNvGrpSpPr/>
              <p:nvPr/>
            </p:nvGrpSpPr>
            <p:grpSpPr>
              <a:xfrm>
                <a:off x="317" y="190"/>
                <a:ext cx="18853" cy="7789"/>
                <a:chOff x="347" y="190"/>
                <a:chExt cx="18853" cy="7789"/>
              </a:xfrm>
            </p:grpSpPr>
            <p:sp>
              <p:nvSpPr>
                <p:cNvPr id="75" name="Rectangles 1"/>
                <p:cNvSpPr/>
                <p:nvPr/>
              </p:nvSpPr>
              <p:spPr>
                <a:xfrm>
                  <a:off x="347" y="934"/>
                  <a:ext cx="7542" cy="495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User GUI App 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6" name="Rectangles 75"/>
                <p:cNvSpPr/>
                <p:nvPr/>
              </p:nvSpPr>
              <p:spPr>
                <a:xfrm>
                  <a:off x="9500" y="767"/>
                  <a:ext cx="9043" cy="382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750" kern="100">
                      <a:latin typeface="Tibetan Machine Uni" panose="01000503020000020002"/>
                      <a:ea typeface="SimSun"/>
                      <a:cs typeface="Tibetan Machine Uni" panose="01000503020000020002"/>
                      <a:sym typeface="Times New Roman"/>
                    </a:rPr>
                    <a:t> </a:t>
                  </a:r>
                  <a:endParaRPr lang="en-US" altLang="zh-CN" sz="750" kern="100">
                    <a:latin typeface="Tibetan Machine Uni" panose="01000503020000020002"/>
                    <a:ea typeface="SimSun"/>
                    <a:cs typeface="Tibetan Machine Uni" panose="01000503020000020002"/>
                    <a:sym typeface="Times New Roman"/>
                  </a:endParaRPr>
                </a:p>
              </p:txBody>
            </p:sp>
            <p:sp>
              <p:nvSpPr>
                <p:cNvPr id="77" name="Rectangles 8"/>
                <p:cNvSpPr/>
                <p:nvPr/>
              </p:nvSpPr>
              <p:spPr>
                <a:xfrm>
                  <a:off x="9719" y="881"/>
                  <a:ext cx="2909" cy="415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Amazon S3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8" name="Rectangles 3"/>
                <p:cNvSpPr/>
                <p:nvPr/>
              </p:nvSpPr>
              <p:spPr>
                <a:xfrm>
                  <a:off x="9500" y="190"/>
                  <a:ext cx="9050" cy="540"/>
                </a:xfrm>
                <a:prstGeom prst="rect">
                  <a:avLst/>
                </a:prstGeom>
              </p:spPr>
              <p:style>
                <a:lnRef idx="0">
                  <a:schemeClr val="dk1"/>
                </a:lnRef>
                <a:fillRef idx="3">
                  <a:schemeClr val="dk1"/>
                </a:fillRef>
                <a:effectRef idx="3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marL="0" marR="0" indent="0" algn="ctr" latinLnBrk="0">
                    <a:lnSpc>
                      <a:spcPts val="1650"/>
                    </a:lnSpc>
                    <a:spcBef>
                      <a:spcPts val="0"/>
                    </a:spcBef>
                    <a:spcAft>
                      <a:spcPts val="0"/>
                    </a:spcAft>
                    <a:tabLst>
                      <a:tab pos="581660" algn="l"/>
                      <a:tab pos="1163320" algn="l"/>
                      <a:tab pos="1744980" algn="l"/>
                      <a:tab pos="2326640" algn="l"/>
                      <a:tab pos="2908300" algn="l"/>
                      <a:tab pos="3489960" algn="l"/>
                      <a:tab pos="4071620" algn="l"/>
                      <a:tab pos="4653280" algn="l"/>
                      <a:tab pos="5234940" algn="l"/>
                      <a:tab pos="5816600" algn="l"/>
                      <a:tab pos="6398260" algn="l"/>
                      <a:tab pos="6979920" algn="l"/>
                      <a:tab pos="7561580" algn="l"/>
                      <a:tab pos="8143240" algn="l"/>
                      <a:tab pos="8724900" algn="l"/>
                      <a:tab pos="9306560" algn="l"/>
                    </a:tabLst>
                  </a:pPr>
                  <a:r>
                    <a:rPr lang="en-US" altLang="zh-CN" sz="975" kern="0" spc="0">
                      <a:solidFill>
                        <a:srgbClr val="F9FAFB"/>
                      </a:solidFill>
                      <a:latin typeface="ubuntu mono" panose="020B0509030602030204"/>
                      <a:ea typeface="ubuntu mono" panose="020B0509030602030204"/>
                      <a:cs typeface="ubuntu mono" panose="020B0509030602030204"/>
                      <a:sym typeface="Times New Roman"/>
                    </a:rPr>
                    <a:t>AWS Cloud Services</a:t>
                  </a:r>
                  <a:endParaRPr lang="en-US" altLang="zh-CN" sz="975" kern="0" spc="0">
                    <a:solidFill>
                      <a:srgbClr val="F9FAFB"/>
                    </a:solidFill>
                    <a:latin typeface="ubuntu mono" panose="020B0509030602030204"/>
                    <a:ea typeface="ubuntu mono" panose="020B0509030602030204"/>
                    <a:cs typeface="ubuntu mono" panose="020B0509030602030204"/>
                    <a:sym typeface="Times New Roman"/>
                  </a:endParaRPr>
                </a:p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 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" name="Rectangles 10"/>
                <p:cNvSpPr/>
                <p:nvPr/>
              </p:nvSpPr>
              <p:spPr>
                <a:xfrm>
                  <a:off x="14450" y="858"/>
                  <a:ext cx="3804" cy="461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AWS IoT Jobs Service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0" name="Rectangles 9"/>
                <p:cNvSpPr/>
                <p:nvPr/>
              </p:nvSpPr>
              <p:spPr>
                <a:xfrm>
                  <a:off x="9719" y="1318"/>
                  <a:ext cx="2909" cy="1232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marL="342900" lvl="0" indent="-342900" algn="l">
                    <a:buChar char=""/>
                  </a:pP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Firmware Bin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  <a:p>
                  <a:pPr marL="342900" lvl="0" indent="-342900" algn="l">
                    <a:buChar char=""/>
                  </a:pP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Presigned URLs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  <a:p>
                  <a:pPr marL="342900" lvl="0" indent="-342900" algn="l">
                    <a:buChar char=""/>
                  </a:pP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Versioning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1" name="Rectangles 11"/>
                <p:cNvSpPr/>
                <p:nvPr/>
              </p:nvSpPr>
              <p:spPr>
                <a:xfrm>
                  <a:off x="14461" y="1308"/>
                  <a:ext cx="3793" cy="1253"/>
                </a:xfrm>
                <a:prstGeom prst="rect">
                  <a:avLst/>
                </a:prstGeom>
                <a:gradFill>
                  <a:gsLst>
                    <a:gs pos="0">
                      <a:schemeClr val="accent6">
                        <a:lumMod val="110000"/>
                        <a:satMod val="105000"/>
                        <a:tint val="67000"/>
                        <a:alpha val="82000"/>
                      </a:schemeClr>
                    </a:gs>
                    <a:gs pos="50000">
                      <a:schemeClr val="accent6">
                        <a:lumMod val="105000"/>
                        <a:satMod val="103000"/>
                        <a:tint val="73000"/>
                      </a:schemeClr>
                    </a:gs>
                    <a:gs pos="100000">
                      <a:schemeClr val="accent6">
                        <a:lumMod val="105000"/>
                        <a:satMod val="109000"/>
                        <a:tint val="81000"/>
                      </a:schemeClr>
                    </a:gs>
                  </a:gsLst>
                </a:gradFill>
                <a:ln w="28575" cmpd="sng">
                  <a:solidFill>
                    <a:schemeClr val="accent6">
                      <a:lumMod val="60000"/>
                      <a:lumOff val="40000"/>
                    </a:schemeClr>
                  </a:solidFill>
                  <a:prstDash val="solid"/>
                </a:ln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marL="342900" lvl="0" indent="-342900" algn="l">
                    <a:buChar char=""/>
                  </a:pP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Holds Job Document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  <a:p>
                  <a:pPr marL="342900" lvl="0" indent="-342900" algn="l">
                    <a:buChar char=""/>
                  </a:pP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Manages Job Queue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  <a:p>
                  <a:pPr marL="342900" lvl="0" indent="-342900" algn="l">
                    <a:buChar char=""/>
                  </a:pP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Job Status Tracking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2" name="Rectangles 7"/>
                <p:cNvSpPr/>
                <p:nvPr/>
              </p:nvSpPr>
              <p:spPr>
                <a:xfrm>
                  <a:off x="10333" y="3034"/>
                  <a:ext cx="3771" cy="415"/>
                </a:xfrm>
                <a:prstGeom prst="rect">
                  <a:avLst/>
                </a:prstGeom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AWS IoT Core (MQTT Broker) 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3" name="Rectangles 12"/>
                <p:cNvSpPr/>
                <p:nvPr/>
              </p:nvSpPr>
              <p:spPr>
                <a:xfrm>
                  <a:off x="10334" y="3403"/>
                  <a:ext cx="3782" cy="1120"/>
                </a:xfrm>
                <a:prstGeom prst="rect">
                  <a:avLst/>
                </a:prstGeom>
              </p:spPr>
              <p:style>
                <a:lnRef idx="1">
                  <a:schemeClr val="accent6"/>
                </a:lnRef>
                <a:fillRef idx="2">
                  <a:schemeClr val="accent6"/>
                </a:fillRef>
                <a:effectRef idx="1">
                  <a:schemeClr val="accent6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marL="342900" lvl="0" indent="-342900" algn="l">
                    <a:buChar char=""/>
                  </a:pP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TLS 1.2 Mutual Authentication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  <a:p>
                  <a:pPr marL="342900" lvl="0" indent="-342900" algn="l">
                    <a:buChar char=""/>
                  </a:pP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X.509 Certificate Validation 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  <a:p>
                  <a:pPr marL="342900" lvl="0" indent="-342900" algn="l">
                    <a:buChar char=""/>
                  </a:pP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Policy Enforcement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4" name="Rectangles 13"/>
                <p:cNvSpPr/>
                <p:nvPr/>
              </p:nvSpPr>
              <p:spPr>
                <a:xfrm>
                  <a:off x="9594" y="4794"/>
                  <a:ext cx="8957" cy="502"/>
                </a:xfrm>
                <a:prstGeom prst="rect">
                  <a:avLst/>
                </a:prstGeom>
              </p:spPr>
              <p:style>
                <a:lnRef idx="1">
                  <a:schemeClr val="dk1"/>
                </a:lnRef>
                <a:fillRef idx="3">
                  <a:schemeClr val="dk1"/>
                </a:fillRef>
                <a:effectRef idx="2">
                  <a:schemeClr val="dk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Embedded Device 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6" name="Rectangles 19"/>
                <p:cNvSpPr/>
                <p:nvPr/>
              </p:nvSpPr>
              <p:spPr>
                <a:xfrm>
                  <a:off x="9971" y="5810"/>
                  <a:ext cx="1858" cy="739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watch_ota.sh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(Script)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7" name="Rectangles 18"/>
                <p:cNvSpPr/>
                <p:nvPr/>
              </p:nvSpPr>
              <p:spPr>
                <a:xfrm>
                  <a:off x="12584" y="5818"/>
                  <a:ext cx="1858" cy="739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Firmware</a:t>
                  </a:r>
                  <a:b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</a:b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Downloader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8" name="Rectangles 20"/>
                <p:cNvSpPr/>
                <p:nvPr/>
              </p:nvSpPr>
              <p:spPr>
                <a:xfrm>
                  <a:off x="15208" y="5811"/>
                  <a:ext cx="1858" cy="739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AWS IoT</a:t>
                  </a:r>
                  <a:b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</a:b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Device SDK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89" name="Elbow Connector 88"/>
                <p:cNvCxnSpPr/>
                <p:nvPr/>
              </p:nvCxnSpPr>
              <p:spPr>
                <a:xfrm rot="10800000">
                  <a:off x="7862" y="1796"/>
                  <a:ext cx="1630" cy="5"/>
                </a:xfrm>
                <a:prstGeom prst="bentConnector2">
                  <a:avLst/>
                </a:prstGeom>
                <a:ln cmpd="sng">
                  <a:tailEnd type="stealth" w="lg" len="lg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Elbow Connector 90"/>
                <p:cNvCxnSpPr>
                  <a:stCxn id="81" idx="2"/>
                  <a:endCxn id="82" idx="0"/>
                </p:cNvCxnSpPr>
                <p:nvPr/>
              </p:nvCxnSpPr>
              <p:spPr>
                <a:xfrm rot="5400000">
                  <a:off x="14052" y="728"/>
                  <a:ext cx="473" cy="4139"/>
                </a:xfrm>
                <a:prstGeom prst="bentConnector3">
                  <a:avLst>
                    <a:gd name="adj1" fmla="val 50106"/>
                  </a:avLst>
                </a:prstGeom>
                <a:ln>
                  <a:solidFill>
                    <a:schemeClr val="tx1"/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" name="Text Box 91"/>
                <p:cNvSpPr txBox="1"/>
                <p:nvPr/>
              </p:nvSpPr>
              <p:spPr>
                <a:xfrm>
                  <a:off x="12693" y="1282"/>
                  <a:ext cx="1687" cy="1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r>
                    <a:rPr lang="en-US" sz="900"/>
                    <a:t>MQTT/TLS 1.2</a:t>
                  </a:r>
                  <a:endParaRPr lang="en-US" sz="900"/>
                </a:p>
                <a:p>
                  <a:r>
                    <a:rPr lang="en-US" sz="900"/>
                    <a:t>Topic: $aws/things/THING/jobs/notify-next</a:t>
                  </a:r>
                  <a:endParaRPr lang="en-US" sz="900"/>
                </a:p>
              </p:txBody>
            </p:sp>
            <p:cxnSp>
              <p:nvCxnSpPr>
                <p:cNvPr id="93" name="Elbow Connector 92"/>
                <p:cNvCxnSpPr/>
                <p:nvPr/>
              </p:nvCxnSpPr>
              <p:spPr>
                <a:xfrm>
                  <a:off x="18543" y="2680"/>
                  <a:ext cx="5" cy="5299"/>
                </a:xfrm>
                <a:prstGeom prst="bentConnector3">
                  <a:avLst>
                    <a:gd name="adj1" fmla="val 7500000"/>
                  </a:avLst>
                </a:prstGeom>
                <a:ln>
                  <a:solidFill>
                    <a:schemeClr val="tx1"/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4" name="Text Box 93"/>
                <p:cNvSpPr txBox="1"/>
                <p:nvPr/>
              </p:nvSpPr>
              <p:spPr>
                <a:xfrm>
                  <a:off x="18622" y="4794"/>
                  <a:ext cx="578" cy="246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eaVert" wrap="square" rtlCol="0">
                  <a:spAutoFit/>
                </a:bodyPr>
                <a:p>
                  <a:r>
                    <a:rPr lang="en-US" sz="1200" b="1"/>
                    <a:t>MQTT over TLS 1.2</a:t>
                  </a:r>
                  <a:endParaRPr lang="en-US" sz="1200" b="1"/>
                </a:p>
              </p:txBody>
            </p:sp>
            <p:sp>
              <p:nvSpPr>
                <p:cNvPr id="95" name="Rectangles 31"/>
                <p:cNvSpPr/>
                <p:nvPr/>
              </p:nvSpPr>
              <p:spPr>
                <a:xfrm>
                  <a:off x="5732" y="1619"/>
                  <a:ext cx="1858" cy="739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Mobile App</a:t>
                  </a:r>
                  <a:b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</a:b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Notifications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6" name="Rectangles 30"/>
                <p:cNvSpPr/>
                <p:nvPr/>
              </p:nvSpPr>
              <p:spPr>
                <a:xfrm>
                  <a:off x="509" y="1617"/>
                  <a:ext cx="1858" cy="739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CloudWatch</a:t>
                  </a:r>
                  <a:b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</a:b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Logs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7" name="Rectangles 29"/>
                <p:cNvSpPr/>
                <p:nvPr/>
              </p:nvSpPr>
              <p:spPr>
                <a:xfrm>
                  <a:off x="3122" y="1625"/>
                  <a:ext cx="1858" cy="739"/>
                </a:xfrm>
                <a:prstGeom prst="rect">
                  <a:avLst/>
                </a:prstGeom>
              </p:spPr>
              <p:style>
                <a:lnRef idx="0">
                  <a:schemeClr val="accent3"/>
                </a:lnRef>
                <a:fillRef idx="3">
                  <a:schemeClr val="accent3"/>
                </a:fillRef>
                <a:effectRef idx="3">
                  <a:schemeClr val="accent3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noAutofit/>
                </a:bodyPr>
                <a:p>
                  <a:pPr algn="ctr"/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GUI App</a:t>
                  </a:r>
                  <a:b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</a:br>
                  <a:r>
                    <a:rPr lang="en-US" altLang="zh-CN" sz="1050" kern="100">
                      <a:latin typeface="Calibri"/>
                      <a:ea typeface="SimSun"/>
                      <a:cs typeface="Times New Roman"/>
                      <a:sym typeface="Times New Roman"/>
                    </a:rPr>
                    <a:t>Dashboard</a:t>
                  </a:r>
                  <a:endParaRPr lang="en-US" altLang="zh-CN" sz="1050" kern="100">
                    <a:latin typeface="Calibri"/>
                    <a:ea typeface="SimSu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98" name="Elbow Connector 97"/>
                <p:cNvCxnSpPr/>
                <p:nvPr/>
              </p:nvCxnSpPr>
              <p:spPr>
                <a:xfrm rot="10800000">
                  <a:off x="7889" y="3187"/>
                  <a:ext cx="1611" cy="1"/>
                </a:xfrm>
                <a:prstGeom prst="bentConnector3">
                  <a:avLst>
                    <a:gd name="adj1" fmla="val 49969"/>
                  </a:avLst>
                </a:prstGeom>
                <a:ln cmpd="sng">
                  <a:headEnd type="stealth" w="lg" len="lg"/>
                  <a:tailEnd type="none" w="lg" len="lg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Elbow Connector 98"/>
                <p:cNvCxnSpPr>
                  <a:stCxn id="85" idx="1"/>
                </p:cNvCxnSpPr>
                <p:nvPr/>
              </p:nvCxnSpPr>
              <p:spPr>
                <a:xfrm rot="10800000">
                  <a:off x="8586" y="3937"/>
                  <a:ext cx="1004" cy="4041"/>
                </a:xfrm>
                <a:prstGeom prst="bentConnector2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Arrow Connector 99"/>
                <p:cNvCxnSpPr/>
                <p:nvPr/>
              </p:nvCxnSpPr>
              <p:spPr>
                <a:xfrm flipV="1">
                  <a:off x="8586" y="3896"/>
                  <a:ext cx="921" cy="21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stealth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Text Box 100"/>
                <p:cNvSpPr txBox="1"/>
                <p:nvPr/>
              </p:nvSpPr>
              <p:spPr>
                <a:xfrm rot="10800000">
                  <a:off x="8405" y="4522"/>
                  <a:ext cx="578" cy="2460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vert="eaVert" wrap="square" rtlCol="0">
                  <a:spAutoFit/>
                </a:bodyPr>
                <a:p>
                  <a:r>
                    <a:rPr lang="en-US" sz="1200" b="1"/>
                    <a:t>MQTT over TLS 1.2</a:t>
                  </a:r>
                  <a:endParaRPr lang="en-US" sz="1200" b="1"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2018</Words>
  <Application>WPS Presentation</Application>
  <PresentationFormat>宽屏</PresentationFormat>
  <Paragraphs>143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SimSun</vt:lpstr>
      <vt:lpstr>Wingdings</vt:lpstr>
      <vt:lpstr>Nimbus Roman No9 L</vt:lpstr>
      <vt:lpstr>Arial Black</vt:lpstr>
      <vt:lpstr>Microsoft YaHei</vt:lpstr>
      <vt:lpstr>Droid Sans Fallback</vt:lpstr>
      <vt:lpstr>Arial Unicode MS</vt:lpstr>
      <vt:lpstr>SimSun</vt:lpstr>
      <vt:lpstr>Calibri</vt:lpstr>
      <vt:lpstr>DejaVu Sans</vt:lpstr>
      <vt:lpstr>SimSun</vt:lpstr>
      <vt:lpstr>Times New Roman</vt:lpstr>
      <vt:lpstr>Tibetan Machine Uni</vt:lpstr>
      <vt:lpstr>ubuntu mono</vt:lpstr>
      <vt:lpstr>OpenSymbol</vt:lpstr>
      <vt:lpstr>SimSun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zumi</cp:lastModifiedBy>
  <cp:revision>58</cp:revision>
  <dcterms:created xsi:type="dcterms:W3CDTF">2025-11-22T15:04:29Z</dcterms:created>
  <dcterms:modified xsi:type="dcterms:W3CDTF">2025-11-22T15:04:29Z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