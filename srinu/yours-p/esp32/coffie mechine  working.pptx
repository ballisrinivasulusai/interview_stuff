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232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0656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</a:p>
        </p:txBody>
      </p:sp>
      <p:sp>
        <p:nvSpPr>
          <p:cNvPr id="75112787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</a:p>
        </p:txBody>
      </p:sp>
      <p:sp>
        <p:nvSpPr>
          <p:cNvPr id="2097431666" name="Date Placeholder 3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</a:p>
        </p:txBody>
      </p:sp>
      <p:sp>
        <p:nvSpPr>
          <p:cNvPr id="54335510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</a:p>
        </p:txBody>
      </p:sp>
      <p:sp>
        <p:nvSpPr>
          <p:cNvPr id="9908398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</a:p>
        </p:txBody>
      </p:sp>
      <p:sp>
        <p:nvSpPr>
          <p:cNvPr id="200125945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99820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74961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371974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C7BF18-D629-6E85-4EFD-79044111F6B0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19298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93991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1301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2C862D-AE8F-C651-419E-2D57CE019CB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77340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40302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969891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B33C27-CE6B-2758-B5C1-98F3D203C9B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44058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68831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713145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904A33-DA0E-2E2B-B8CF-9B02DD4CD119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43096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80333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486068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A93F19-8005-0094-1197-11FBC7564F1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655EF4-DFFC-64A0-3796-515A1D737CF7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09733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126158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199040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17250063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5959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0998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273411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77530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138162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01174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15777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94784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384606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8320299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02148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998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575206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50068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43500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19259176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3636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90573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146445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6707649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659989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4804286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425367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205632398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204521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12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616137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149455721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852616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5914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23289763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91628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PhAnim="0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51248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556579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74359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7398421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8087591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9785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PhAnim="0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92837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162684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4152037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7731207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6801634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02866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PhAnim="0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40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61971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5983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1734630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69730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2616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151180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06457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19304713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51653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46413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80549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14123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3A1C593-65D0-4073-BCC9-577B9352EA97}" type="datetimeFigureOut">
              <a:rPr lang="en-US"/>
            </a:fld>
            <a:endParaRPr lang="en-US"/>
          </a:p>
        </p:txBody>
      </p:sp>
      <p:sp>
        <p:nvSpPr>
          <p:cNvPr id="204223074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493731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618960-8005-486C-9A75-10CB2AAC16F9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6301482" name="Group 1"/>
          <p:cNvGrpSpPr/>
          <p:nvPr/>
        </p:nvGrpSpPr>
        <p:grpSpPr bwMode="auto">
          <a:xfrm>
            <a:off x="172085" y="247015"/>
            <a:ext cx="9711690" cy="6157595"/>
            <a:chOff x="271" y="389"/>
            <a:chExt cx="15294" cy="9697"/>
          </a:xfrm>
        </p:grpSpPr>
        <p:sp>
          <p:nvSpPr>
            <p:cNvPr id="927388078" name="Rectangles 3"/>
            <p:cNvSpPr/>
            <p:nvPr/>
          </p:nvSpPr>
          <p:spPr bwMode="auto">
            <a:xfrm>
              <a:off x="939" y="948"/>
              <a:ext cx="1754" cy="1616"/>
            </a:xfrm>
            <a:prstGeom prst="rect">
              <a:avLst/>
            </a:prstGeom>
            <a:gradFill>
              <a:gsLst>
                <a:gs pos="0">
                  <a:schemeClr val="accent2">
                    <a:lumMod val="25000"/>
                    <a:lumOff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r>
                <a:rPr lang="en-US" b="1"/>
                <a:t>HOT WATER</a:t>
              </a:r>
              <a:endParaRPr lang="en-US" b="1"/>
            </a:p>
          </p:txBody>
        </p:sp>
        <p:sp>
          <p:nvSpPr>
            <p:cNvPr id="452181967" name="Rectangles 4"/>
            <p:cNvSpPr/>
            <p:nvPr/>
          </p:nvSpPr>
          <p:spPr bwMode="auto">
            <a:xfrm>
              <a:off x="3673" y="948"/>
              <a:ext cx="1754" cy="1616"/>
            </a:xfrm>
            <a:prstGeom prst="rect">
              <a:avLst/>
            </a:prstGeom>
            <a:gradFill>
              <a:gsLst>
                <a:gs pos="0">
                  <a:schemeClr val="accent2">
                    <a:lumMod val="25000"/>
                    <a:lumOff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r>
                <a:rPr lang="en-US" b="1"/>
                <a:t>LIQUID </a:t>
              </a:r>
              <a:r>
                <a:rPr lang="en-US" b="1"/>
                <a:t>2</a:t>
              </a:r>
              <a:endParaRPr lang="en-US" b="1"/>
            </a:p>
          </p:txBody>
        </p:sp>
        <p:sp>
          <p:nvSpPr>
            <p:cNvPr id="495199723" name="Rectangles 5"/>
            <p:cNvSpPr/>
            <p:nvPr/>
          </p:nvSpPr>
          <p:spPr bwMode="auto">
            <a:xfrm>
              <a:off x="6407" y="948"/>
              <a:ext cx="1754" cy="1616"/>
            </a:xfrm>
            <a:prstGeom prst="rect">
              <a:avLst/>
            </a:prstGeom>
            <a:gradFill>
              <a:gsLst>
                <a:gs pos="0">
                  <a:schemeClr val="accent2">
                    <a:lumMod val="25000"/>
                    <a:lumOff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r>
                <a:rPr lang="en-US" b="1"/>
                <a:t>LIQUID 3</a:t>
              </a:r>
              <a:endParaRPr lang="en-US" b="1"/>
            </a:p>
          </p:txBody>
        </p:sp>
        <p:sp>
          <p:nvSpPr>
            <p:cNvPr id="899972705" name="Rectangles 6"/>
            <p:cNvSpPr/>
            <p:nvPr/>
          </p:nvSpPr>
          <p:spPr bwMode="auto">
            <a:xfrm>
              <a:off x="9141" y="948"/>
              <a:ext cx="1754" cy="1616"/>
            </a:xfrm>
            <a:prstGeom prst="rect">
              <a:avLst/>
            </a:prstGeom>
            <a:gradFill>
              <a:gsLst>
                <a:gs pos="0">
                  <a:schemeClr val="accent2">
                    <a:lumMod val="25000"/>
                    <a:lumOff val="75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r>
                <a:rPr lang="en-US" b="1"/>
                <a:t>LIQUID 3</a:t>
              </a:r>
              <a:endParaRPr lang="en-US" b="1"/>
            </a:p>
          </p:txBody>
        </p:sp>
        <p:sp>
          <p:nvSpPr>
            <p:cNvPr id="1136465367" name="Rectangles 7"/>
            <p:cNvSpPr/>
            <p:nvPr/>
          </p:nvSpPr>
          <p:spPr bwMode="auto">
            <a:xfrm>
              <a:off x="13332" y="4802"/>
              <a:ext cx="2188" cy="1115"/>
            </a:xfrm>
            <a:prstGeom prst="rect">
              <a:avLst/>
            </a:prstGeom>
            <a:gradFill>
              <a:gsLst>
                <a:gs pos="0">
                  <a:schemeClr val="accent5">
                    <a:lumMod val="25000"/>
                    <a:lumOff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r>
                <a:rPr lang="en-US" b="1"/>
                <a:t>16x2 LCD</a:t>
              </a:r>
              <a:endParaRPr lang="en-US" b="1"/>
            </a:p>
            <a:p>
              <a:pPr lvl="0" algn="ctr">
                <a:buClrTx/>
                <a:buSzTx/>
                <a:buFontTx/>
                <a:defRPr/>
              </a:pPr>
              <a:r>
                <a:rPr lang="en-US" b="1"/>
                <a:t>DISPLAY</a:t>
              </a:r>
              <a:endParaRPr lang="en-US" b="1"/>
            </a:p>
          </p:txBody>
        </p:sp>
        <p:sp>
          <p:nvSpPr>
            <p:cNvPr id="346998862" name="Rectangles 8"/>
            <p:cNvSpPr/>
            <p:nvPr/>
          </p:nvSpPr>
          <p:spPr bwMode="auto">
            <a:xfrm>
              <a:off x="13332" y="6637"/>
              <a:ext cx="2233" cy="1116"/>
            </a:xfrm>
            <a:prstGeom prst="rect">
              <a:avLst/>
            </a:prstGeom>
            <a:gradFill>
              <a:gsLst>
                <a:gs pos="0">
                  <a:schemeClr val="accent5">
                    <a:lumMod val="25000"/>
                    <a:lumOff val="75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r>
                <a:rPr lang="en-US" b="1"/>
                <a:t>BUTTONS</a:t>
              </a:r>
              <a:endParaRPr lang="en-US" b="1"/>
            </a:p>
          </p:txBody>
        </p:sp>
        <p:sp>
          <p:nvSpPr>
            <p:cNvPr id="895886330" name="Rectangles 9"/>
            <p:cNvSpPr/>
            <p:nvPr/>
          </p:nvSpPr>
          <p:spPr bwMode="auto">
            <a:xfrm>
              <a:off x="9926" y="5120"/>
              <a:ext cx="1754" cy="2413"/>
            </a:xfrm>
            <a:prstGeom prst="rect">
              <a:avLst/>
            </a:prstGeom>
            <a:gradFill>
              <a:gsLst>
                <a:gs pos="0">
                  <a:schemeClr val="accent6">
                    <a:lumMod val="25000"/>
                    <a:lumOff val="75000"/>
                  </a:schemeClr>
                </a:gs>
                <a:gs pos="50000">
                  <a:schemeClr val="accent6"/>
                </a:gs>
                <a:gs pos="100000">
                  <a:schemeClr val="accent6">
                    <a:lumMod val="85000"/>
                  </a:scheme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r>
                <a:rPr lang="en-US" b="1"/>
                <a:t>ESP32</a:t>
              </a:r>
              <a:endParaRPr lang="en-US" b="1"/>
            </a:p>
          </p:txBody>
        </p:sp>
        <p:sp>
          <p:nvSpPr>
            <p:cNvPr id="502975372" name="Rectangles 10"/>
            <p:cNvSpPr/>
            <p:nvPr/>
          </p:nvSpPr>
          <p:spPr bwMode="auto">
            <a:xfrm>
              <a:off x="1026" y="3182"/>
              <a:ext cx="1531" cy="8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r>
                <a:rPr lang="en-US" sz="1400" b="1"/>
                <a:t>Solenoid Valve</a:t>
              </a:r>
              <a:endParaRPr lang="en-US" sz="1400" b="1"/>
            </a:p>
          </p:txBody>
        </p:sp>
        <p:sp>
          <p:nvSpPr>
            <p:cNvPr id="1371402897" name="Rectangles 11"/>
            <p:cNvSpPr/>
            <p:nvPr/>
          </p:nvSpPr>
          <p:spPr bwMode="auto">
            <a:xfrm>
              <a:off x="3804" y="3182"/>
              <a:ext cx="1531" cy="8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r>
                <a:rPr lang="en-US" sz="1400" b="1"/>
                <a:t>Solenoid Valve</a:t>
              </a:r>
              <a:endParaRPr lang="en-US" sz="1400" b="1"/>
            </a:p>
          </p:txBody>
        </p:sp>
        <p:sp>
          <p:nvSpPr>
            <p:cNvPr id="961532875" name="Rectangles 12"/>
            <p:cNvSpPr/>
            <p:nvPr/>
          </p:nvSpPr>
          <p:spPr bwMode="auto">
            <a:xfrm>
              <a:off x="6495" y="3183"/>
              <a:ext cx="1531" cy="8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r>
                <a:rPr lang="en-US" sz="1400" b="1"/>
                <a:t>Solenoid Valve</a:t>
              </a:r>
              <a:endParaRPr lang="en-US" sz="1400" b="1"/>
            </a:p>
          </p:txBody>
        </p:sp>
        <p:sp>
          <p:nvSpPr>
            <p:cNvPr id="322199036" name="Rectangles 13"/>
            <p:cNvSpPr/>
            <p:nvPr/>
          </p:nvSpPr>
          <p:spPr bwMode="auto">
            <a:xfrm>
              <a:off x="9234" y="3183"/>
              <a:ext cx="1531" cy="8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r>
                <a:rPr lang="en-US" sz="1400" b="1"/>
                <a:t>Solenoid Valve</a:t>
              </a:r>
              <a:endParaRPr lang="en-US" sz="1400" b="1"/>
            </a:p>
          </p:txBody>
        </p:sp>
        <p:sp>
          <p:nvSpPr>
            <p:cNvPr id="1406607319" name="Rectangles 14"/>
            <p:cNvSpPr/>
            <p:nvPr/>
          </p:nvSpPr>
          <p:spPr bwMode="auto">
            <a:xfrm>
              <a:off x="5438" y="5119"/>
              <a:ext cx="1401" cy="12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r>
                <a:rPr lang="en-US" b="1"/>
                <a:t>PUMP</a:t>
              </a:r>
              <a:endParaRPr lang="en-US" b="1"/>
            </a:p>
          </p:txBody>
        </p:sp>
        <p:sp>
          <p:nvSpPr>
            <p:cNvPr id="1313883544" name="Rectangles 15"/>
            <p:cNvSpPr/>
            <p:nvPr/>
          </p:nvSpPr>
          <p:spPr bwMode="auto">
            <a:xfrm>
              <a:off x="5166" y="6876"/>
              <a:ext cx="1928" cy="12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r>
                <a:rPr lang="en-US" sz="1600" b="1"/>
                <a:t>FLOW</a:t>
              </a:r>
              <a:endParaRPr lang="en-US" sz="1600" b="1"/>
            </a:p>
            <a:p>
              <a:pPr algn="ctr">
                <a:defRPr/>
              </a:pPr>
              <a:r>
                <a:rPr lang="en-US" sz="1600" b="1"/>
                <a:t>METER</a:t>
              </a:r>
              <a:endParaRPr lang="en-US" sz="1600" b="1"/>
            </a:p>
            <a:p>
              <a:pPr algn="ctr">
                <a:defRPr/>
              </a:pPr>
              <a:r>
                <a:rPr lang="en-US" sz="1600" b="1"/>
                <a:t>(YF-S402B)</a:t>
              </a:r>
              <a:endParaRPr lang="en-US" sz="1600" b="1"/>
            </a:p>
          </p:txBody>
        </p:sp>
        <p:sp>
          <p:nvSpPr>
            <p:cNvPr id="336519525" name="Rectangles 16"/>
            <p:cNvSpPr/>
            <p:nvPr/>
          </p:nvSpPr>
          <p:spPr bwMode="auto">
            <a:xfrm>
              <a:off x="752" y="8880"/>
              <a:ext cx="1677" cy="12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r>
                <a:rPr lang="en-US" b="1"/>
                <a:t>OUTPUT</a:t>
              </a:r>
              <a:endParaRPr lang="en-US" b="1"/>
            </a:p>
          </p:txBody>
        </p:sp>
        <p:sp>
          <p:nvSpPr>
            <p:cNvPr id="1810130572" name="Rectangles 17"/>
            <p:cNvSpPr/>
            <p:nvPr/>
          </p:nvSpPr>
          <p:spPr bwMode="auto">
            <a:xfrm>
              <a:off x="9926" y="8880"/>
              <a:ext cx="1523" cy="12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r>
                <a:rPr lang="en-US" b="1"/>
                <a:t>WASTE WATER</a:t>
              </a:r>
              <a:endParaRPr lang="en-US" b="1"/>
            </a:p>
          </p:txBody>
        </p:sp>
        <p:sp>
          <p:nvSpPr>
            <p:cNvPr id="1891686836" name="Rectangles 20"/>
            <p:cNvSpPr/>
            <p:nvPr/>
          </p:nvSpPr>
          <p:spPr bwMode="auto">
            <a:xfrm>
              <a:off x="5164" y="8880"/>
              <a:ext cx="2026" cy="12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r>
                <a:rPr lang="en-US" b="1"/>
                <a:t>2IN -  1OUT</a:t>
              </a:r>
              <a:endParaRPr lang="en-US" b="1"/>
            </a:p>
            <a:p>
              <a:pPr algn="ctr">
                <a:defRPr/>
              </a:pPr>
              <a:r>
                <a:rPr lang="en-US" b="1"/>
                <a:t>VALVE</a:t>
              </a:r>
              <a:endParaRPr lang="en-US" b="1"/>
            </a:p>
          </p:txBody>
        </p:sp>
        <p:sp>
          <p:nvSpPr>
            <p:cNvPr id="1820838635" name="Down Arrow 21"/>
            <p:cNvSpPr/>
            <p:nvPr/>
          </p:nvSpPr>
          <p:spPr bwMode="auto">
            <a:xfrm>
              <a:off x="1711" y="2583"/>
              <a:ext cx="159" cy="59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1544932316" name="Down Arrow 22"/>
            <p:cNvSpPr/>
            <p:nvPr/>
          </p:nvSpPr>
          <p:spPr bwMode="auto">
            <a:xfrm>
              <a:off x="4471" y="2583"/>
              <a:ext cx="159" cy="59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725518350" name="Down Arrow 23"/>
            <p:cNvSpPr/>
            <p:nvPr/>
          </p:nvSpPr>
          <p:spPr bwMode="auto">
            <a:xfrm>
              <a:off x="7205" y="2583"/>
              <a:ext cx="159" cy="59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1009608802" name="Down Arrow 24"/>
            <p:cNvSpPr/>
            <p:nvPr/>
          </p:nvSpPr>
          <p:spPr bwMode="auto">
            <a:xfrm>
              <a:off x="9939" y="2583"/>
              <a:ext cx="159" cy="59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464125377" name="Down Arrow 25"/>
            <p:cNvSpPr/>
            <p:nvPr/>
          </p:nvSpPr>
          <p:spPr bwMode="auto">
            <a:xfrm rot="5400000">
              <a:off x="3719" y="8116"/>
              <a:ext cx="159" cy="2734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743333031" name="Down Arrow 26"/>
            <p:cNvSpPr/>
            <p:nvPr/>
          </p:nvSpPr>
          <p:spPr bwMode="auto">
            <a:xfrm rot="16199998">
              <a:off x="8493" y="8116"/>
              <a:ext cx="159" cy="2734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1771533413" name="Down Arrow 27"/>
            <p:cNvSpPr/>
            <p:nvPr/>
          </p:nvSpPr>
          <p:spPr bwMode="auto">
            <a:xfrm>
              <a:off x="6060" y="8089"/>
              <a:ext cx="159" cy="79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654389870" name="Down Arrow 28"/>
            <p:cNvSpPr/>
            <p:nvPr/>
          </p:nvSpPr>
          <p:spPr bwMode="auto">
            <a:xfrm>
              <a:off x="6060" y="6324"/>
              <a:ext cx="159" cy="551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cxnSp>
          <p:nvCxnSpPr>
            <p:cNvPr id="94509188" name="Elbow Connector 29"/>
            <p:cNvCxnSpPr>
              <a:stCxn id="895886330" idx="3"/>
              <a:endCxn id="1136465367" idx="1"/>
            </p:cNvCxnSpPr>
            <p:nvPr/>
          </p:nvCxnSpPr>
          <p:spPr bwMode="auto">
            <a:xfrm flipV="1">
              <a:off x="11680" y="5359"/>
              <a:ext cx="1653" cy="967"/>
            </a:xfrm>
            <a:prstGeom prst="bentConnector3">
              <a:avLst>
                <a:gd name="adj1" fmla="val 5003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05708849" name="Elbow Connector 30"/>
            <p:cNvCxnSpPr>
              <a:stCxn id="346998862" idx="1"/>
            </p:cNvCxnSpPr>
            <p:nvPr/>
          </p:nvCxnSpPr>
          <p:spPr bwMode="auto">
            <a:xfrm rot="10800000">
              <a:off x="11685" y="6535"/>
              <a:ext cx="1647" cy="660"/>
            </a:xfrm>
            <a:prstGeom prst="bentConnector3">
              <a:avLst>
                <a:gd name="adj1" fmla="val 4997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38126167" name="Elbow Connector 31"/>
            <p:cNvCxnSpPr/>
            <p:nvPr/>
          </p:nvCxnSpPr>
          <p:spPr bwMode="auto">
            <a:xfrm flipV="1">
              <a:off x="7102" y="6613"/>
              <a:ext cx="2825" cy="883"/>
            </a:xfrm>
            <a:prstGeom prst="bentConnector3">
              <a:avLst>
                <a:gd name="adj1" fmla="val 50018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64868598" name="Elbow Connector 32"/>
            <p:cNvCxnSpPr/>
            <p:nvPr/>
          </p:nvCxnSpPr>
          <p:spPr bwMode="auto">
            <a:xfrm rot="10800000">
              <a:off x="6840" y="5721"/>
              <a:ext cx="3085" cy="605"/>
            </a:xfrm>
            <a:prstGeom prst="bentConnector3">
              <a:avLst>
                <a:gd name="adj1" fmla="val 49984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81391741" name="Down Arrow 36"/>
            <p:cNvSpPr/>
            <p:nvPr/>
          </p:nvSpPr>
          <p:spPr bwMode="auto">
            <a:xfrm>
              <a:off x="6060" y="4551"/>
              <a:ext cx="159" cy="561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812018892" name="Minus 37"/>
            <p:cNvSpPr/>
            <p:nvPr/>
          </p:nvSpPr>
          <p:spPr bwMode="auto">
            <a:xfrm>
              <a:off x="271" y="4422"/>
              <a:ext cx="11258" cy="256"/>
            </a:xfrm>
            <a:prstGeom prst="mathMinus">
              <a:avLst>
                <a:gd name="adj1" fmla="val 235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en-US"/>
            </a:p>
          </p:txBody>
        </p:sp>
        <p:sp>
          <p:nvSpPr>
            <p:cNvPr id="103292759" name="Minus 38"/>
            <p:cNvSpPr/>
            <p:nvPr/>
          </p:nvSpPr>
          <p:spPr bwMode="auto">
            <a:xfrm rot="5400000">
              <a:off x="9676" y="4139"/>
              <a:ext cx="647" cy="283"/>
            </a:xfrm>
            <a:prstGeom prst="mathMinus">
              <a:avLst>
                <a:gd name="adj1" fmla="val 235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1838540395" name="Minus 39"/>
            <p:cNvSpPr/>
            <p:nvPr/>
          </p:nvSpPr>
          <p:spPr bwMode="auto">
            <a:xfrm rot="5400000">
              <a:off x="6899" y="4138"/>
              <a:ext cx="647" cy="283"/>
            </a:xfrm>
            <a:prstGeom prst="mathMinus">
              <a:avLst>
                <a:gd name="adj1" fmla="val 235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  <a:defRPr/>
              </a:pPr>
              <a:endParaRPr lang="en-US"/>
            </a:p>
          </p:txBody>
        </p:sp>
        <p:sp>
          <p:nvSpPr>
            <p:cNvPr id="775152131" name="Minus 40"/>
            <p:cNvSpPr/>
            <p:nvPr/>
          </p:nvSpPr>
          <p:spPr bwMode="auto">
            <a:xfrm rot="5400000">
              <a:off x="4169" y="4133"/>
              <a:ext cx="636" cy="283"/>
            </a:xfrm>
            <a:prstGeom prst="mathMinus">
              <a:avLst>
                <a:gd name="adj1" fmla="val 235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sp>
          <p:nvSpPr>
            <p:cNvPr id="2502158" name="Minus 41"/>
            <p:cNvSpPr/>
            <p:nvPr/>
          </p:nvSpPr>
          <p:spPr bwMode="auto">
            <a:xfrm rot="5400000">
              <a:off x="1471" y="4141"/>
              <a:ext cx="645" cy="283"/>
            </a:xfrm>
            <a:prstGeom prst="mathMinus">
              <a:avLst>
                <a:gd name="adj1" fmla="val 23520"/>
              </a:avLst>
            </a:prstGeom>
            <a:solidFill>
              <a:srgbClr val="FFC000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defRPr/>
              </a:pPr>
              <a:endParaRPr lang="en-US"/>
            </a:p>
          </p:txBody>
        </p:sp>
        <p:cxnSp>
          <p:nvCxnSpPr>
            <p:cNvPr id="1083868104" name="Straight Connector 45"/>
            <p:cNvCxnSpPr/>
            <p:nvPr/>
          </p:nvCxnSpPr>
          <p:spPr bwMode="auto">
            <a:xfrm flipV="1">
              <a:off x="11196" y="3608"/>
              <a:ext cx="4" cy="1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10926355" name="Straight Arrow Connector 46"/>
            <p:cNvCxnSpPr>
              <a:endCxn id="322199036" idx="3"/>
            </p:cNvCxnSpPr>
            <p:nvPr/>
          </p:nvCxnSpPr>
          <p:spPr bwMode="auto">
            <a:xfrm flipH="1">
              <a:off x="10765" y="3609"/>
              <a:ext cx="441" cy="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5080740" name="Straight Connector 47"/>
            <p:cNvCxnSpPr/>
            <p:nvPr/>
          </p:nvCxnSpPr>
          <p:spPr bwMode="auto">
            <a:xfrm flipH="1" flipV="1">
              <a:off x="11308" y="824"/>
              <a:ext cx="9" cy="42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26263306" name="Straight Connector 48"/>
            <p:cNvCxnSpPr/>
            <p:nvPr/>
          </p:nvCxnSpPr>
          <p:spPr bwMode="auto">
            <a:xfrm flipV="1">
              <a:off x="11427" y="613"/>
              <a:ext cx="0" cy="44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8384170" name="Straight Connector 49"/>
            <p:cNvCxnSpPr/>
            <p:nvPr/>
          </p:nvCxnSpPr>
          <p:spPr bwMode="auto">
            <a:xfrm flipV="1">
              <a:off x="11531" y="389"/>
              <a:ext cx="5" cy="47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22273177" name="Straight Connector 50"/>
            <p:cNvCxnSpPr/>
            <p:nvPr/>
          </p:nvCxnSpPr>
          <p:spPr bwMode="auto">
            <a:xfrm flipH="1" flipV="1">
              <a:off x="2998" y="390"/>
              <a:ext cx="8538" cy="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3934805" name="Straight Arrow Connector 53"/>
            <p:cNvCxnSpPr/>
            <p:nvPr/>
          </p:nvCxnSpPr>
          <p:spPr bwMode="auto">
            <a:xfrm flipH="1">
              <a:off x="8026" y="3602"/>
              <a:ext cx="441" cy="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1327652" name="Straight Arrow Connector 54"/>
            <p:cNvCxnSpPr/>
            <p:nvPr/>
          </p:nvCxnSpPr>
          <p:spPr bwMode="auto">
            <a:xfrm flipH="1">
              <a:off x="5335" y="3609"/>
              <a:ext cx="441" cy="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9363179" name="Straight Arrow Connector 55"/>
            <p:cNvCxnSpPr/>
            <p:nvPr/>
          </p:nvCxnSpPr>
          <p:spPr bwMode="auto">
            <a:xfrm flipH="1">
              <a:off x="2557" y="3596"/>
              <a:ext cx="441" cy="6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6291409" name="Straight Connector 56"/>
            <p:cNvCxnSpPr/>
            <p:nvPr/>
          </p:nvCxnSpPr>
          <p:spPr bwMode="auto">
            <a:xfrm flipV="1">
              <a:off x="2998" y="390"/>
              <a:ext cx="0" cy="32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2290945" name="Straight Connector 57"/>
            <p:cNvCxnSpPr/>
            <p:nvPr/>
          </p:nvCxnSpPr>
          <p:spPr bwMode="auto">
            <a:xfrm flipH="1" flipV="1">
              <a:off x="8463" y="815"/>
              <a:ext cx="0" cy="27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30599898" name="Straight Connector 58"/>
            <p:cNvCxnSpPr/>
            <p:nvPr/>
          </p:nvCxnSpPr>
          <p:spPr bwMode="auto">
            <a:xfrm flipV="1">
              <a:off x="5776" y="598"/>
              <a:ext cx="0" cy="30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48751376" name="Straight Connector 59"/>
            <p:cNvCxnSpPr/>
            <p:nvPr/>
          </p:nvCxnSpPr>
          <p:spPr bwMode="auto">
            <a:xfrm>
              <a:off x="8463" y="824"/>
              <a:ext cx="284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79638839" name="Straight Connector 60"/>
            <p:cNvCxnSpPr/>
            <p:nvPr/>
          </p:nvCxnSpPr>
          <p:spPr bwMode="auto">
            <a:xfrm>
              <a:off x="5777" y="603"/>
              <a:ext cx="56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158591" name="Text Box 3"/>
          <p:cNvSpPr txBox="1"/>
          <p:nvPr/>
        </p:nvSpPr>
        <p:spPr bwMode="auto">
          <a:xfrm>
            <a:off x="321945" y="227965"/>
            <a:ext cx="11308080" cy="6630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defRPr/>
            </a:pP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b="1">
                <a:latin typeface="Times New Roman" panose="02020603050405020304"/>
                <a:cs typeface="Times New Roman" panose="02020603050405020304"/>
              </a:rPr>
              <a:t>Solenoid Valve:</a:t>
            </a: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>
                <a:latin typeface="Times New Roman" panose="02020603050405020304"/>
                <a:cs typeface="Times New Roman" panose="02020603050405020304"/>
              </a:rPr>
              <a:t>https://www.theengineerstore.in/products/12v-half-inch-solenoid-valve?srsltid=AfmBOoqr1g65WkTXUh9ruPyDg3CeFIysmqomQO7kCjLCllkMky44cDog</a:t>
            </a: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b="1">
                <a:latin typeface="Times New Roman" panose="02020603050405020304"/>
                <a:cs typeface="Times New Roman" panose="02020603050405020304"/>
              </a:rPr>
              <a:t>PUMP:</a:t>
            </a: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>
                <a:latin typeface="Times New Roman" panose="02020603050405020304"/>
                <a:cs typeface="Times New Roman" panose="02020603050405020304"/>
              </a:rPr>
              <a:t>https://robu.in/product/12v-nkp-dc-s10b-mini-peristaltic-pump/</a:t>
            </a: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en-US"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en-US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402605381" name="Table 13"/>
          <p:cNvGraphicFramePr/>
          <p:nvPr/>
        </p:nvGraphicFramePr>
        <p:xfrm>
          <a:off x="508000" y="2686685"/>
          <a:ext cx="745426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7425"/>
                <a:gridCol w="3926840"/>
              </a:tblGrid>
              <a:tr h="381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Component:         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Function: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ESP32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Main controller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Pump (peristaltic/diaphragm) 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Dispenses liquid (coffee/milk/tea)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Flow Sensor          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Measures exact liquid volume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Solenoid Valve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Controls liquid path to cup (1 output)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Display 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Shows menu, quantity, progress</a:t>
                      </a:r>
                      <a:endParaRPr lang="en-US"/>
                    </a:p>
                  </a:txBody>
                  <a:tcPr/>
                </a:tc>
              </a:tr>
              <a:tr h="623570"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Buttons (tactile)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  <a:defRPr/>
                      </a:pPr>
                      <a:r>
                        <a:rPr lang="en-US" sz="1800"/>
                        <a:t> User selects beverage &amp; quantity</a:t>
                      </a:r>
                      <a:endParaRPr lang="en-US" sz="1800"/>
                    </a:p>
                    <a:p>
                      <a:pPr>
                        <a:buNone/>
                        <a:defRPr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250979" name="Text Box 3"/>
          <p:cNvSpPr txBox="1"/>
          <p:nvPr/>
        </p:nvSpPr>
        <p:spPr bwMode="auto">
          <a:xfrm>
            <a:off x="507365" y="434975"/>
            <a:ext cx="8595995" cy="598868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ts val="0"/>
              </a:spcAft>
              <a:defRPr/>
            </a:pPr>
            <a:r>
              <a:rPr sz="2300" b="1">
                <a:latin typeface="Times New Roman" panose="02020603050405020304"/>
                <a:cs typeface="Times New Roman" panose="02020603050405020304"/>
              </a:rPr>
              <a:t>Dispensing Flow Sequence</a:t>
            </a:r>
            <a:endParaRPr sz="2300" b="1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>
                <a:latin typeface="Times New Roman" panose="02020603050405020304"/>
                <a:cs typeface="Times New Roman" panose="02020603050405020304"/>
              </a:rPr>
              <a:t>User selects beverage &amp; volume on LCD via buttons.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>
                <a:latin typeface="Times New Roman" panose="02020603050405020304"/>
                <a:cs typeface="Times New Roman" panose="02020603050405020304"/>
              </a:rPr>
              <a:t>ESP32 opens the corresponding solenoid valve for the selected liquid.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>
                <a:latin typeface="Times New Roman" panose="02020603050405020304"/>
                <a:cs typeface="Times New Roman" panose="02020603050405020304"/>
              </a:rPr>
              <a:t>ESP32 turns ON pump.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>
                <a:latin typeface="Times New Roman" panose="02020603050405020304"/>
                <a:cs typeface="Times New Roman" panose="02020603050405020304"/>
              </a:rPr>
              <a:t>Flow meter pulses are counted; ESP32 stops pump &amp; closes valve when desired volume is reached.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>
                <a:latin typeface="Times New Roman" panose="02020603050405020304"/>
                <a:cs typeface="Times New Roman" panose="02020603050405020304"/>
              </a:rPr>
              <a:t>ESP32 switches 2-in-1 valve to cup (Output).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>
                <a:latin typeface="Times New Roman" panose="02020603050405020304"/>
                <a:cs typeface="Times New Roman" panose="02020603050405020304"/>
              </a:rPr>
              <a:t>System optionally flushes remaining liquid to waste before next operation.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endParaRPr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>
                <a:latin typeface="Times New Roman" panose="02020603050405020304"/>
                <a:cs typeface="Times New Roman" panose="02020603050405020304"/>
              </a:rPr>
              <a:t>Display shows “Done”.</a:t>
            </a:r>
            <a:endParaRPr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911066" name="Rectangles 802584365"/>
          <p:cNvSpPr/>
          <p:nvPr/>
        </p:nvSpPr>
        <p:spPr bwMode="auto">
          <a:xfrm>
            <a:off x="755790" y="625822"/>
            <a:ext cx="9897313" cy="42980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spAutoFit/>
          </a:bodyPr>
          <a:p>
            <a:pPr>
              <a:defRPr/>
            </a:pP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Coffee Machine Working Principle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coffee machine operates based on user input provided through buttons. When a user presses a button, the selected option is displayed on the LCD screen.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ESP32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microcontroller is connected to multiple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liquid (LEQ) valves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and a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water valve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 Based on the user’s selection, the ESP32 controls these valves to perform the desired operation.</a:t>
            </a:r>
            <a:endParaRPr sz="1800"/>
          </a:p>
          <a:p>
            <a:pPr>
              <a:defRPr/>
            </a:pPr>
            <a:endParaRPr sz="1800"/>
          </a:p>
          <a:p>
            <a:pPr>
              <a:defRPr/>
            </a:pPr>
            <a:r>
              <a:rPr sz="2000" b="1" i="0" u="none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Example:</a:t>
            </a:r>
            <a:b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If the user selects a coffee type that requires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LEQ1 (10 ml)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and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LEQ2 (15 ml)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the ESP32 activates the respective pumps and directs each liquid through a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flow meter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b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</a:b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The flow meter measures the quantity — for every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44 clock pulses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it allows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 ml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of liquid to pass through.</a:t>
            </a:r>
            <a:endParaRPr sz="18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Once the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LEQ1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flow is completed, a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cleaning cycle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is initiated. Water passes through the same path to flush out any remaining liquid and is directed to the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waste line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 After cleaning,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LEQ2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flow begins, ensuring no mixing between different liquids.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346102" name="Rectangles 514346101"/>
          <p:cNvSpPr/>
          <p:nvPr/>
        </p:nvSpPr>
        <p:spPr bwMode="auto">
          <a:xfrm>
            <a:off x="758295" y="763351"/>
            <a:ext cx="9939457" cy="3505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spAutoFit/>
          </a:bodyPr>
          <a:p>
            <a:pPr>
              <a:defRPr/>
            </a:pP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Troubleshooting and Solution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During the testing phase, I faced two main issues: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I²C line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was connected through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two extension cables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which caused communication errors between the ESP32 and the connected I²C devices.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ground (GND) connection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between the ESP32 and the peripheral modules was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not properly connected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leading to unstable readings and malfunctioning sensors.</a:t>
            </a:r>
            <a:endParaRPr sz="18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sz="1800"/>
          </a:p>
          <a:p>
            <a:pPr>
              <a:defRPr/>
            </a:pPr>
            <a:r>
              <a:rPr sz="2200" b="1" i="0" u="none">
                <a:solidFill>
                  <a:srgbClr val="00B05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Solution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</a:t>
            </a:r>
            <a:endParaRPr sz="1800" b="1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I resolved the problem by using a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single, shorter I²C connection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to reduce signal noise and ensure reliable communication. Additionally, I </a:t>
            </a:r>
            <a:r>
              <a:rPr sz="1800" b="1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connected all modules to a common ground</a:t>
            </a: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which stabilized the entire circuit and restored proper operation of the I²C devices.</a:t>
            </a:r>
            <a:endParaRPr sz="1800" b="0" i="0" u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10233580" name="Text Box 1510233579"/>
          <p:cNvSpPr txBox="1"/>
          <p:nvPr/>
        </p:nvSpPr>
        <p:spPr bwMode="auto">
          <a:xfrm>
            <a:off x="758295" y="4424515"/>
            <a:ext cx="10386062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FF0000"/>
                </a:solidFill>
              </a:rPr>
              <a:t>Possible Distances </a:t>
            </a:r>
            <a:r>
              <a:rPr b="1">
                <a:solidFill>
                  <a:srgbClr val="FF0000"/>
                </a:solidFill>
              </a:rPr>
              <a:t>i2c</a:t>
            </a:r>
            <a:endParaRPr b="1">
              <a:solidFill>
                <a:srgbClr val="FF0000"/>
              </a:solidFill>
            </a:endParaRPr>
          </a:p>
          <a:p>
            <a:pPr algn="l">
              <a:defRPr/>
            </a:pPr>
            <a:r>
              <a:t> </a:t>
            </a: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On a PCB (Same Board): Up to 30 cm. This is ideal and very reliable.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algn="l">
              <a:defRPr/>
            </a:pP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With a Cable (Between Boards): Up to 1 meter. This is possible if you use a low speed (100 kHz) and strong pull-up resistors. </a:t>
            </a:r>
            <a:endParaRPr>
              <a:latin typeface="Times New Roman" panose="02020603050405020304"/>
              <a:cs typeface="Times New Roman" panose="02020603050405020304"/>
            </a:endParaRPr>
          </a:p>
          <a:p>
            <a:pPr algn="l">
              <a:defRPr/>
            </a:pPr>
            <a:r>
              <a:rPr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With Special Chips (Extenders): Up to 20+ meters. Using an I2C extender or buffer IC makes this possible.</a:t>
            </a:r>
            <a:endParaRPr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028745" name="Rectangles 308028744"/>
          <p:cNvSpPr/>
          <p:nvPr/>
        </p:nvSpPr>
        <p:spPr bwMode="auto">
          <a:xfrm>
            <a:off x="611229" y="552238"/>
            <a:ext cx="10841105" cy="4208245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spAutoFit/>
          </a:bodyPr>
          <a:p>
            <a:pPr>
              <a:defRPr/>
            </a:pP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⚙️ </a:t>
            </a: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1️⃣ What issue did you face?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 faced a communication problem in the I²C line because I used two extension cables and missed the ground </a:t>
            </a:r>
            <a:r>
              <a:rPr sz="2200" b="0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connection.</a:t>
            </a:r>
            <a:endParaRPr sz="2200">
              <a:solidFill>
                <a:srgbClr val="FF0000"/>
              </a:solidFill>
            </a:endParaRPr>
          </a:p>
          <a:p>
            <a:pPr>
              <a:defRPr/>
            </a:pP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⚙️ </a:t>
            </a: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2️⃣ How did you identify it?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 checked the I²C scan — no devices were detected. Then I inspected the wiring and found the ground was not connected properly, and the cable was too long.</a:t>
            </a:r>
            <a:endParaRPr sz="1800"/>
          </a:p>
          <a:p>
            <a:pPr>
              <a:defRPr/>
            </a:pP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⚙️ </a:t>
            </a: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3️⃣ How did you solve it?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 used a single short I²C cable and connected all devices to a common ground. After that, communication worked perfectly.</a:t>
            </a:r>
            <a:endParaRPr sz="1800"/>
          </a:p>
          <a:p>
            <a:pPr>
              <a:defRPr/>
            </a:pP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⚙️ </a:t>
            </a: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4️⃣ What did you learn?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 learned that I²C needs short, stable connections and a proper common ground for reliable communication.</a:t>
            </a:r>
            <a:endParaRPr sz="1800"/>
          </a:p>
          <a:p>
            <a:pPr>
              <a:defRPr/>
            </a:pP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⚙️ </a:t>
            </a:r>
            <a:r>
              <a:rPr sz="2200" b="1" i="0" u="none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5️⃣ What will you do next time?</a:t>
            </a:r>
            <a:endParaRPr sz="1800"/>
          </a:p>
          <a:p>
            <a:pPr>
              <a:defRPr/>
            </a:pPr>
            <a:r>
              <a:rPr sz="1800" b="0" i="0" u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I’ll plan wiring properly, check ground continuity first, and test I²C connections early during setup.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sz="2400" b="1">
                <a:solidFill>
                  <a:srgbClr val="FF0000"/>
                </a:solidFill>
              </a:rPr>
              <a:t>Project: Liquid Mixer System</a:t>
            </a:r>
            <a:endParaRPr lang="en-US" sz="2400" b="1">
              <a:solidFill>
                <a:srgbClr val="FF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/>
              <a:t>   Developed an ESP32-based automated liquid mixing system using I2C communication and embedded C. Implemented valve and flow-meter control for precise liquid measurement and automatic cleaning to ensure accurate, contamination-free operation.</a:t>
            </a:r>
            <a:endParaRPr lang="en-US" sz="1800"/>
          </a:p>
          <a:p>
            <a:pPr algn="just">
              <a:buFont typeface="Arial" panose="020B0604020202020204" pitchFamily="34" charset="0"/>
              <a:buChar char="•"/>
            </a:pPr>
            <a:endParaRPr lang="en-US" sz="1800"/>
          </a:p>
          <a:p>
            <a:pPr algn="just">
              <a:buNone/>
            </a:pPr>
            <a:r>
              <a:rPr lang="en-US" sz="1800"/>
              <a:t>Tools &amp; Technologies: ESP32 Controller, Embedded C, I2C Communication, Flow Meter, Solenoid Valves, Sensors, LCD Display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4115</Words>
  <Application>WPS Presentation</Application>
  <PresentationFormat>On-screen Show (4:3)</PresentationFormat>
  <Paragraphs>126</Paragraphs>
  <Slides>7</Slides>
  <Notes>6</Notes>
  <HiddenSlides>0</HiddenSlides>
  <MMClips>2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SimSun</vt:lpstr>
      <vt:lpstr>Wingdings</vt:lpstr>
      <vt:lpstr>Arial</vt:lpstr>
      <vt:lpstr>Times New Roman</vt:lpstr>
      <vt:lpstr>Microsoft YaHei</vt:lpstr>
      <vt:lpstr>Droid Sans Fallback</vt:lpstr>
      <vt:lpstr>Arial Unicode MS</vt:lpstr>
      <vt:lpstr>Calibri Light</vt:lpstr>
      <vt:lpstr>Calibri</vt:lpstr>
      <vt:lpstr>Trebuchet MS</vt:lpstr>
      <vt:lpstr>DejaVu Sans</vt:lpstr>
      <vt:lpstr>FreeMono</vt:lpstr>
      <vt:lpstr>Wingdings</vt:lpstr>
      <vt:lpstr>Gubbi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zumi</cp:lastModifiedBy>
  <cp:revision>12</cp:revision>
  <dcterms:created xsi:type="dcterms:W3CDTF">2025-10-27T13:59:29Z</dcterms:created>
  <dcterms:modified xsi:type="dcterms:W3CDTF">2025-10-27T13:59:29Z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